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  <a:latin typeface="Calibri"/>
              </a:rPr>
              <a:t>Contract360 — System Architecture  |  Slide 1: Ingestion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411480"/>
            <a:ext cx="11731752" cy="658368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React (Vite) UI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chat interface  •  contract selector  •  upload panel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SSE token streaming  •  citation cards  •  sidebar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4 s polling for ingestion job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4476" y="1069848"/>
            <a:ext cx="0" cy="192024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40196" y="1056131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C9D1D9"/>
                </a:solidFill>
                <a:latin typeface="Calibri"/>
              </a:rPr>
              <a:t>REST + 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261872"/>
            <a:ext cx="11731752" cy="73152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FastAPI API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POST /ingest  •  GET /contracts  •  DELETE /contracts/{id}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POST /sessions  •  GET /sessions/{id}/history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POST /sessions/{id}/ask/stream  •  GET /health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993391"/>
            <a:ext cx="0" cy="274321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0" y="1993391"/>
            <a:ext cx="0" cy="274321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" y="2267712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388BFD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Ingestion Worker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Downloads PDF from Blob  •  invokes pipeline stages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writes job status → Cosmos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2267712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388BFD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Query + Session Service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routes /ask/stream  •  loads history  •  calls retrieval pipeline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834640"/>
            <a:ext cx="0" cy="201168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73952" y="3035808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F78166"/>
          </a:solidFill>
          <a:ln w="63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Cosmos DB (NoSQL)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sessions  •  messages  •  ingestion jobs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834640"/>
            <a:ext cx="0" cy="932688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3584448"/>
            <a:ext cx="0" cy="18288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8600" y="3767328"/>
            <a:ext cx="11731752" cy="1170432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 w="63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Ingestion Pipeline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1. Download PDF from Blob    2. Parse → Azure Document Intelligence    3. Build clause tree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4. Chunk text    5. Batch embed (Azure OpenAI)    6. Generate summary (GPT-4o)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7. Persist artifacts to Blob    8. Upload to Azure AI Search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9. Extract KG entities (GPT-4o)    10. Resolve entities (normalize → dedupe → canonicalize)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11. Write 2-tier graph to Cosmos Gremlin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12848" y="4937760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33871" y="4937760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54896" y="4937760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5488" y="5029200"/>
            <a:ext cx="3474720" cy="713232"/>
          </a:xfrm>
          <a:prstGeom prst="roundRect">
            <a:avLst>
              <a:gd name="adj" fmla="val 5000"/>
            </a:avLst>
          </a:prstGeom>
          <a:solidFill>
            <a:srgbClr val="F78166"/>
          </a:solidFill>
          <a:ln w="63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Azure Blob Storage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PDFs  •  tree.json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extraction 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1" y="5029200"/>
            <a:ext cx="3474720" cy="713232"/>
          </a:xfrm>
          <a:prstGeom prst="roundRect">
            <a:avLst>
              <a:gd name="adj" fmla="val 5000"/>
            </a:avLst>
          </a:prstGeom>
          <a:solidFill>
            <a:srgbClr val="F78166"/>
          </a:solidFill>
          <a:ln w="63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Azure AI Search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BM25 + vector  •  hybrid index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clause chunks + embeddings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17536" y="5029200"/>
            <a:ext cx="3474720" cy="713232"/>
          </a:xfrm>
          <a:prstGeom prst="roundRect">
            <a:avLst>
              <a:gd name="adj" fmla="val 5000"/>
            </a:avLst>
          </a:prstGeom>
          <a:solidFill>
            <a:srgbClr val="F78166"/>
          </a:solidFill>
          <a:ln w="63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Cosmos DB Gremlin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2-tier KG  •  Mention nodes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CanonicalEntity  •  RESOLVED_AS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  <a:latin typeface="Calibri"/>
              </a:rPr>
              <a:t>Contract360 — System Architecture  |  Slide 2: Query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457200"/>
            <a:ext cx="11731752" cy="960120"/>
          </a:xfrm>
          <a:prstGeom prst="roundRect">
            <a:avLst>
              <a:gd name="adj" fmla="val 5000"/>
            </a:avLst>
          </a:prstGeom>
          <a:solidFill>
            <a:srgbClr val="8957E5"/>
          </a:solidFill>
          <a:ln w="6350">
            <a:solidFill>
              <a:srgbClr val="89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Query Understanding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1. Load chat history from Cosmos (last 20 msgs)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2. Summary shortcut — skip retrieval if summarize intent detected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3. Scope resolution — narrow to contracts named in question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4. Route: LLM classifier  →  tree / graph / hybrid  (comparison → hybrid)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1417320"/>
            <a:ext cx="0" cy="73152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45752" y="1417320"/>
            <a:ext cx="0" cy="73152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" y="1490472"/>
            <a:ext cx="5486400" cy="868680"/>
          </a:xfrm>
          <a:prstGeom prst="roundRect">
            <a:avLst>
              <a:gd name="adj" fmla="val 5000"/>
            </a:avLst>
          </a:prstGeom>
          <a:solidFill>
            <a:srgbClr val="388BFD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Tree Route  —  SemanticRetriever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keyword extract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→ parent / child chunk expansion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→ Azure Search BM25 + vector + rerank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3952" y="1490472"/>
            <a:ext cx="5486400" cy="868680"/>
          </a:xfrm>
          <a:prstGeom prst="roundRect">
            <a:avLst>
              <a:gd name="adj" fmla="val 5000"/>
            </a:avLst>
          </a:prstGeom>
          <a:solidFill>
            <a:srgbClr val="388BFD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Graph Route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Phase 1: entity link → RESOLVED_AS → obligations (Gremlin)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Phase 2 fallback: vector search → clause IDs → 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359152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45752" y="2359152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450592"/>
            <a:ext cx="6702552" cy="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2450592"/>
            <a:ext cx="7616952" cy="731520"/>
          </a:xfrm>
          <a:prstGeom prst="roundRect">
            <a:avLst>
              <a:gd name="adj" fmla="val 5000"/>
            </a:avLst>
          </a:prstGeom>
          <a:solidFill>
            <a:srgbClr val="8957E5"/>
          </a:solidFill>
          <a:ln w="6350">
            <a:solidFill>
              <a:srgbClr val="89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Comparison Branch  (2+ contracts + comparison intent)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format_comparison_result()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→ CONTRACT A / CONTRACT B side-by-side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" y="3182112"/>
            <a:ext cx="0" cy="91440"/>
          </a:xfrm>
          <a:prstGeom prst="line">
            <a:avLst/>
          </a:prstGeom>
          <a:ln w="19050">
            <a:solidFill>
              <a:srgbClr val="8B949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" y="3273552"/>
            <a:ext cx="11731752" cy="1325880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 w="63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b="1" sz="1100">
                <a:solidFill>
                  <a:srgbClr val="FFFFFF"/>
                </a:solidFill>
                <a:latin typeface="Calibri"/>
              </a:rPr>
              <a:t>Answer Generation + Grounding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Inject [S#] citations into context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GPT-4o generates answer with inline [S#] markers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Extract only cited sources → grounded citations list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Generate 3 follow-up suggestions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Persist answer + citations + follow-ups to Cosmos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Stream response via SSE word-by-word</a:t>
            </a:r>
          </a:p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•  Final SSE event:  { done, citations, follow_ups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8B949E"/>
                </a:solidFill>
                <a:latin typeface="Calibri"/>
              </a:rPr>
              <a:t>All LLM calls → Azure OpenAI (GPT-4o)  •  Embeddings → text-embedding-3-large  •  Search → Azure AI Search hybrid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