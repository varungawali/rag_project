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Contract360  —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320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3FB950"/>
                </a:solidFill>
                <a:latin typeface="Calibri"/>
              </a:rPr>
              <a:t>◀  INGESTION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3200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b="1" sz="750">
                <a:solidFill>
                  <a:srgbClr val="79C0FF"/>
                </a:solidFill>
                <a:latin typeface="Calibri"/>
              </a:rPr>
              <a:t>QUERY PATH  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320040"/>
            <a:ext cx="0" cy="5550408"/>
          </a:xfrm>
          <a:prstGeom prst="line">
            <a:avLst/>
          </a:prstGeom>
          <a:ln w="12700">
            <a:solidFill>
              <a:srgbClr val="21262D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2880" y="365760"/>
            <a:ext cx="11823192" cy="475488"/>
          </a:xfrm>
          <a:prstGeom prst="roundRect">
            <a:avLst>
              <a:gd name="adj" fmla="val 15384"/>
            </a:avLst>
          </a:prstGeom>
          <a:solidFill>
            <a:srgbClr val="1F6FEB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React (Vite) UI</a:t>
            </a:r>
          </a:p>
          <a:p>
            <a:pPr algn="ctr"/>
            <a:r>
              <a:rPr b="0" sz="850">
                <a:solidFill>
                  <a:srgbClr val="C9D1D9"/>
                </a:solidFill>
                <a:latin typeface="Calibri"/>
              </a:rPr>
              <a:t>Chat  •  Contract Selector  •  Upload Panel  •  SSE Streaming  •  Citation Cards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" y="841248"/>
            <a:ext cx="0" cy="11887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63640" y="82296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b="0" sz="700">
                <a:solidFill>
                  <a:srgbClr val="8B949E"/>
                </a:solidFill>
                <a:latin typeface="Calibri"/>
              </a:rPr>
              <a:t>REST + 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960120"/>
            <a:ext cx="11823192" cy="475488"/>
          </a:xfrm>
          <a:prstGeom prst="roundRect">
            <a:avLst>
              <a:gd name="adj" fmla="val 15384"/>
            </a:avLst>
          </a:prstGeom>
          <a:solidFill>
            <a:srgbClr val="1158C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FastAPI API Layer</a:t>
            </a:r>
          </a:p>
          <a:p>
            <a:pPr algn="ctr"/>
            <a:r>
              <a:rPr b="0" sz="850">
                <a:solidFill>
                  <a:srgbClr val="C9D1D9"/>
                </a:solidFill>
                <a:latin typeface="Calibri"/>
              </a:rPr>
              <a:t>/ingest  •  /contracts  •  /sessions  •  /ask/stream  •  /health  •  JWT auth  •  CORS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1435608"/>
            <a:ext cx="0" cy="16459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79" y="1435608"/>
            <a:ext cx="0" cy="16459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2880" y="1600200"/>
            <a:ext cx="3108960" cy="475488"/>
          </a:xfrm>
          <a:prstGeom prst="roundRect">
            <a:avLst>
              <a:gd name="adj" fmla="val 15384"/>
            </a:avLst>
          </a:prstGeom>
          <a:solidFill>
            <a:srgbClr val="0D419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Ingestion Worker</a:t>
            </a:r>
          </a:p>
          <a:p>
            <a:pPr algn="ctr"/>
            <a:r>
              <a:rPr b="0" sz="800">
                <a:solidFill>
                  <a:srgbClr val="C9D1D9"/>
                </a:solidFill>
                <a:latin typeface="Calibri"/>
              </a:rPr>
              <a:t>worker.py  •  async job processor  •  status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600200"/>
            <a:ext cx="4572000" cy="475488"/>
          </a:xfrm>
          <a:prstGeom prst="roundRect">
            <a:avLst>
              <a:gd name="adj" fmla="val 15384"/>
            </a:avLst>
          </a:prstGeom>
          <a:solidFill>
            <a:srgbClr val="0D419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Query + Session Service</a:t>
            </a:r>
          </a:p>
          <a:p>
            <a:pPr algn="ctr"/>
            <a:r>
              <a:rPr b="0" sz="800">
                <a:solidFill>
                  <a:srgbClr val="C9D1D9"/>
                </a:solidFill>
                <a:latin typeface="Calibri"/>
              </a:rPr>
              <a:t>query_service.py  •  session CRUD  •  contract scoping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79" y="2075688"/>
            <a:ext cx="0" cy="16459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0" y="2240280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B453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Cosmos DB  (NoSQL)</a:t>
            </a:r>
          </a:p>
          <a:p>
            <a:pPr algn="ctr"/>
            <a:r>
              <a:rPr b="0" sz="800">
                <a:solidFill>
                  <a:srgbClr val="C9D1D9"/>
                </a:solidFill>
                <a:latin typeface="Calibri"/>
              </a:rPr>
              <a:t>Chat sessions  •  Messages  •  Ingestion jobs  •  Contract metadata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2075688"/>
            <a:ext cx="0" cy="85039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2770632"/>
            <a:ext cx="0" cy="155448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" y="292608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238636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Ingestion Pipeline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PDF Parse (Doc Intelligence)  →  Clause Tree  →  Chunk  →  Batch Embed (text-embedding-3-large)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→  Summary (GPT-4o)  →  Search Index  →  KG Extract  →  Entity Resolve  →  Graph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926080"/>
            <a:ext cx="6336792" cy="566928"/>
          </a:xfrm>
          <a:prstGeom prst="roundRect">
            <a:avLst>
              <a:gd name="adj" fmla="val 12903"/>
            </a:avLst>
          </a:prstGeom>
          <a:solidFill>
            <a:srgbClr val="6E40C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Query Router</a:t>
            </a:r>
          </a:p>
          <a:p>
            <a:pPr algn="ctr"/>
            <a:r>
              <a:rPr b="0" sz="800">
                <a:solidFill>
                  <a:srgbClr val="C9D1D9"/>
                </a:solidFill>
                <a:latin typeface="Calibri"/>
              </a:rPr>
              <a:t>LLM classifier  •  scope resolution  •  summary shortcut  •  hybrid / graph / compare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3493008"/>
            <a:ext cx="0" cy="137160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3493008"/>
            <a:ext cx="0" cy="137160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3566160"/>
            <a:ext cx="3474720" cy="0"/>
          </a:xfrm>
          <a:prstGeom prst="line">
            <a:avLst/>
          </a:prstGeom>
          <a:ln w="1524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0" y="3630168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388BF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Tree Route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SemanticRetriever  •  Azure Search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BM25 + vector  •  parent/child expansion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630168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388BF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Graph Route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Entity linking → RESOLVED_AS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Gremlin traversal  •  vector fallback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4379976"/>
            <a:ext cx="0" cy="16459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369296" y="4379976"/>
            <a:ext cx="0" cy="164592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40880" y="4480560"/>
            <a:ext cx="3328416" cy="0"/>
          </a:xfrm>
          <a:prstGeom prst="line">
            <a:avLst/>
          </a:prstGeom>
          <a:ln w="15240">
            <a:solidFill>
              <a:srgbClr val="6E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69280" y="4544568"/>
            <a:ext cx="6336792" cy="566928"/>
          </a:xfrm>
          <a:prstGeom prst="roundRect">
            <a:avLst>
              <a:gd name="adj" fmla="val 12903"/>
            </a:avLst>
          </a:prstGeom>
          <a:solidFill>
            <a:srgbClr val="6E40C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Hybrid Merge  +  Comparison Branch</a:t>
            </a:r>
          </a:p>
          <a:p>
            <a:pPr algn="ctr"/>
            <a:r>
              <a:rPr b="0" sz="800">
                <a:solidFill>
                  <a:srgbClr val="C9D1D9"/>
                </a:solidFill>
                <a:latin typeface="Calibri"/>
              </a:rPr>
              <a:t>Both routes merged  •  CONTRACT A / B side-by-side when 2+ contracts scoped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37676" y="5111496"/>
            <a:ext cx="0" cy="146304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0" y="5257800"/>
            <a:ext cx="6336792" cy="566928"/>
          </a:xfrm>
          <a:prstGeom prst="roundRect">
            <a:avLst>
              <a:gd name="adj" fmla="val 12903"/>
            </a:avLst>
          </a:prstGeom>
          <a:solidFill>
            <a:srgbClr val="6E40C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Answer Generation</a:t>
            </a:r>
          </a:p>
          <a:p>
            <a:pPr algn="ctr"/>
            <a:r>
              <a:rPr b="0" sz="800">
                <a:solidFill>
                  <a:srgbClr val="C9D1D9"/>
                </a:solidFill>
                <a:latin typeface="Calibri"/>
              </a:rPr>
              <a:t>GPT-4o  •  [S#] grounding  •  citations  •  SSE streaming back to UI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" y="3794760"/>
            <a:ext cx="0" cy="2103120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3200" y="3794760"/>
            <a:ext cx="0" cy="2103120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89120" y="3794760"/>
            <a:ext cx="0" cy="2103120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743200" y="4379976"/>
            <a:ext cx="4297680" cy="1517904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389120" y="4379976"/>
            <a:ext cx="5980176" cy="1517904"/>
          </a:xfrm>
          <a:prstGeom prst="line">
            <a:avLst/>
          </a:prstGeom>
          <a:ln w="19050">
            <a:solidFill>
              <a:srgbClr val="6E7681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5870448"/>
            <a:ext cx="12188952" cy="98755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58795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E3B341"/>
                </a:solidFill>
                <a:latin typeface="Calibri"/>
              </a:rPr>
              <a:t>AZURE STORAGE &amp; SERVICES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6099048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63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Calibri"/>
              </a:rPr>
              <a:t>Azure Blob Storage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Raw PDFs  •  chunked text  •  processed docs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609904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63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Calibri"/>
              </a:rPr>
              <a:t>Azure AI Search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BM25 + vector index  •  hybrid retrieval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609904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63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Calibri"/>
              </a:rPr>
              <a:t>Cosmos DB  (Gremlin)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Knowledge Graph  •  entities  •  relationships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6099048"/>
            <a:ext cx="2679192" cy="658368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63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nchor="ctr">
          <a:bodyPr rtlCol="0" anchor="ctr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Calibri"/>
              </a:rPr>
              <a:t>Azure OpenAI</a:t>
            </a:r>
          </a:p>
          <a:p>
            <a:pPr algn="ctr"/>
            <a:r>
              <a:rPr b="0" sz="750">
                <a:solidFill>
                  <a:srgbClr val="C9D1D9"/>
                </a:solidFill>
                <a:latin typeface="Calibri"/>
              </a:rPr>
              <a:t>GPT-4o (chat)  •  text-embedding-3-large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