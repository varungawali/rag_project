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  <a:latin typeface="Calibri"/>
              </a:rPr>
              <a:t>Contract360  —  System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818120" y="292608"/>
            <a:ext cx="0" cy="6565392"/>
          </a:xfrm>
          <a:prstGeom prst="line">
            <a:avLst/>
          </a:prstGeom>
          <a:ln w="12700">
            <a:solidFill>
              <a:srgbClr val="21262D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37160" y="320040"/>
            <a:ext cx="7543800" cy="42976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1000">
                <a:solidFill>
                  <a:srgbClr val="FFFFFF"/>
                </a:solidFill>
                <a:latin typeface="Calibri"/>
              </a:rPr>
              <a:t>React (Vite) UI</a:t>
            </a:r>
          </a:p>
          <a:p>
            <a:pPr algn="ctr"/>
            <a:r>
              <a:rPr b="0" sz="800">
                <a:solidFill>
                  <a:srgbClr val="C9D1D9"/>
                </a:solidFill>
                <a:latin typeface="Calibri"/>
              </a:rPr>
              <a:t>Chat  •  Contract Selector  •  Upload  •  SSE Streaming  •  Citation Cards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09060" y="749808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954780" y="722376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b="0" sz="700">
                <a:solidFill>
                  <a:srgbClr val="8B949E"/>
                </a:solidFill>
                <a:latin typeface="Calibri"/>
              </a:rPr>
              <a:t>REST + 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" y="868680"/>
            <a:ext cx="7543800" cy="429768"/>
          </a:xfrm>
          <a:prstGeom prst="roundRect">
            <a:avLst>
              <a:gd name="adj" fmla="val 8000"/>
            </a:avLst>
          </a:prstGeom>
          <a:solidFill>
            <a:srgbClr val="1158C7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1000">
                <a:solidFill>
                  <a:srgbClr val="FFFFFF"/>
                </a:solidFill>
                <a:latin typeface="Calibri"/>
              </a:rPr>
              <a:t>FastAPI API</a:t>
            </a:r>
          </a:p>
          <a:p>
            <a:pPr algn="ctr"/>
            <a:r>
              <a:rPr b="0" sz="800">
                <a:solidFill>
                  <a:srgbClr val="C9D1D9"/>
                </a:solidFill>
                <a:latin typeface="Calibri"/>
              </a:rPr>
              <a:t>/ingest  •  /contracts  •  /sessions  •  /ask/stream  •  /health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25880" y="1298448"/>
            <a:ext cx="0" cy="137160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40680" y="1298448"/>
            <a:ext cx="0" cy="137160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435608"/>
            <a:ext cx="2560320" cy="429768"/>
          </a:xfrm>
          <a:prstGeom prst="roundRect">
            <a:avLst>
              <a:gd name="adj" fmla="val 8000"/>
            </a:avLst>
          </a:prstGeom>
          <a:solidFill>
            <a:srgbClr val="0D419D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50">
                <a:solidFill>
                  <a:srgbClr val="FFFFFF"/>
                </a:solidFill>
                <a:latin typeface="Calibri"/>
              </a:rPr>
              <a:t>Ingestion Worker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worker.py  •  job state tracking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435608"/>
            <a:ext cx="3474720" cy="429768"/>
          </a:xfrm>
          <a:prstGeom prst="roundRect">
            <a:avLst>
              <a:gd name="adj" fmla="val 8000"/>
            </a:avLst>
          </a:prstGeom>
          <a:solidFill>
            <a:srgbClr val="0D419D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50">
                <a:solidFill>
                  <a:srgbClr val="FFFFFF"/>
                </a:solidFill>
                <a:latin typeface="Calibri"/>
              </a:rPr>
              <a:t>Query + Session Service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query_service.py  •  scoping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40680" y="1865376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06240" y="1984248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92400E"/>
          </a:solidFill>
          <a:ln w="63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50">
                <a:solidFill>
                  <a:srgbClr val="FFFFFF"/>
                </a:solidFill>
                <a:latin typeface="Calibri"/>
              </a:rPr>
              <a:t>Cosmos DB  (NoSQL)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Sessions  •  Messages  •  Ingestion jobs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25880" y="1865376"/>
            <a:ext cx="0" cy="740664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40680" y="2441448"/>
            <a:ext cx="0" cy="16459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37160" y="2606040"/>
            <a:ext cx="7543800" cy="685800"/>
          </a:xfrm>
          <a:prstGeom prst="roundRect">
            <a:avLst>
              <a:gd name="adj" fmla="val 8000"/>
            </a:avLst>
          </a:prstGeom>
          <a:solidFill>
            <a:srgbClr val="1A7F37"/>
          </a:solidFill>
          <a:ln w="6350">
            <a:solidFill>
              <a:srgbClr val="238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1000">
                <a:solidFill>
                  <a:srgbClr val="FFFFFF"/>
                </a:solidFill>
                <a:latin typeface="Calibri"/>
              </a:rPr>
              <a:t>Ingestion Pipeline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Doc Intelligence  →  Clause Tree  →  Chunk  →  Embed  →  Summary  →  Search Index  →  KG Extract  →  Resolve  →  Graph Write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40680" y="3291840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794760" y="3410712"/>
            <a:ext cx="3886200" cy="429768"/>
          </a:xfrm>
          <a:prstGeom prst="roundRect">
            <a:avLst>
              <a:gd name="adj" fmla="val 8000"/>
            </a:avLst>
          </a:prstGeom>
          <a:solidFill>
            <a:srgbClr val="6E40C9"/>
          </a:solidFill>
          <a:ln w="6350">
            <a:solidFill>
              <a:srgbClr val="895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50">
                <a:solidFill>
                  <a:srgbClr val="FFFFFF"/>
                </a:solidFill>
                <a:latin typeface="Calibri"/>
              </a:rPr>
              <a:t>Query Router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LLM classifier  •  scope resolution  •  comparison detection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" y="3291840"/>
            <a:ext cx="0" cy="2697480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8879" y="3291840"/>
            <a:ext cx="0" cy="2697480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886200" y="3291840"/>
            <a:ext cx="0" cy="2697480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09160" y="3840480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0840" y="3840480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709160" y="3895344"/>
            <a:ext cx="2011680" cy="0"/>
          </a:xfrm>
          <a:prstGeom prst="line">
            <a:avLst/>
          </a:prstGeom>
          <a:ln w="15240">
            <a:solidFill>
              <a:srgbClr val="6E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57600" y="3959352"/>
            <a:ext cx="1737360" cy="658368"/>
          </a:xfrm>
          <a:prstGeom prst="roundRect">
            <a:avLst>
              <a:gd name="adj" fmla="val 8000"/>
            </a:avLst>
          </a:prstGeom>
          <a:solidFill>
            <a:srgbClr val="388BFD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00">
                <a:solidFill>
                  <a:srgbClr val="FFFFFF"/>
                </a:solidFill>
                <a:latin typeface="Calibri"/>
              </a:rPr>
              <a:t>Tree Route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Azure Search
BM25 + vector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15000" y="3959352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388BFD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00">
                <a:solidFill>
                  <a:srgbClr val="FFFFFF"/>
                </a:solidFill>
                <a:latin typeface="Calibri"/>
              </a:rPr>
              <a:t>Graph Route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Gremlin KG
entity linking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09160" y="4617720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720840" y="4617720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709160" y="4681728"/>
            <a:ext cx="2011680" cy="0"/>
          </a:xfrm>
          <a:prstGeom prst="line">
            <a:avLst/>
          </a:prstGeom>
          <a:ln w="15240">
            <a:solidFill>
              <a:srgbClr val="6E7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657600" y="4736592"/>
            <a:ext cx="3977639" cy="429768"/>
          </a:xfrm>
          <a:prstGeom prst="roundRect">
            <a:avLst>
              <a:gd name="adj" fmla="val 8000"/>
            </a:avLst>
          </a:prstGeom>
          <a:solidFill>
            <a:srgbClr val="6E40C9"/>
          </a:solidFill>
          <a:ln w="6350">
            <a:solidFill>
              <a:srgbClr val="895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50">
                <a:solidFill>
                  <a:srgbClr val="FFFFFF"/>
                </a:solidFill>
                <a:latin typeface="Calibri"/>
              </a:rPr>
              <a:t>Hybrid Merge  +  Comparison Branch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CONTRACT A / B side-by-side  •  grounded context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46420" y="5166360"/>
            <a:ext cx="0" cy="118872"/>
          </a:xfrm>
          <a:prstGeom prst="line">
            <a:avLst/>
          </a:prstGeom>
          <a:ln w="15240">
            <a:solidFill>
              <a:srgbClr val="6E7681"/>
            </a:solidFill>
            <a:headEnd type="triangle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657600" y="5285232"/>
            <a:ext cx="3977639" cy="502920"/>
          </a:xfrm>
          <a:prstGeom prst="roundRect">
            <a:avLst>
              <a:gd name="adj" fmla="val 8000"/>
            </a:avLst>
          </a:prstGeom>
          <a:solidFill>
            <a:srgbClr val="6E40C9"/>
          </a:solidFill>
          <a:ln w="6350">
            <a:solidFill>
              <a:srgbClr val="895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950">
                <a:solidFill>
                  <a:srgbClr val="FFFFFF"/>
                </a:solidFill>
                <a:latin typeface="Calibri"/>
              </a:rPr>
              <a:t>Answer Generation + Grounding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GPT-4o  •  [S#] citations  •  SSE stream to UI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5916168"/>
            <a:ext cx="7818120" cy="94183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4592" y="591616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sz="700">
                <a:solidFill>
                  <a:srgbClr val="E3B341"/>
                </a:solidFill>
                <a:latin typeface="Calibri"/>
              </a:rPr>
              <a:t>AZURE STORAGE &amp; SERVICES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4592" y="6126480"/>
            <a:ext cx="1783080" cy="621792"/>
          </a:xfrm>
          <a:prstGeom prst="roundRect">
            <a:avLst>
              <a:gd name="adj" fmla="val 8000"/>
            </a:avLst>
          </a:prstGeom>
          <a:solidFill>
            <a:srgbClr val="92400E"/>
          </a:solidFill>
          <a:ln w="63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850">
                <a:solidFill>
                  <a:srgbClr val="FFFFFF"/>
                </a:solidFill>
                <a:latin typeface="Calibri"/>
              </a:rPr>
              <a:t>Azure Blob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PDFs • artifacts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03120" y="6126480"/>
            <a:ext cx="1783080" cy="621792"/>
          </a:xfrm>
          <a:prstGeom prst="roundRect">
            <a:avLst>
              <a:gd name="adj" fmla="val 8000"/>
            </a:avLst>
          </a:prstGeom>
          <a:solidFill>
            <a:srgbClr val="92400E"/>
          </a:solidFill>
          <a:ln w="63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850">
                <a:solidFill>
                  <a:srgbClr val="FFFFFF"/>
                </a:solidFill>
                <a:latin typeface="Calibri"/>
              </a:rPr>
              <a:t>Azure AI Search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BM25 + vector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69080" y="6126480"/>
            <a:ext cx="1783080" cy="621792"/>
          </a:xfrm>
          <a:prstGeom prst="roundRect">
            <a:avLst>
              <a:gd name="adj" fmla="val 8000"/>
            </a:avLst>
          </a:prstGeom>
          <a:solidFill>
            <a:srgbClr val="92400E"/>
          </a:solidFill>
          <a:ln w="63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850">
                <a:solidFill>
                  <a:srgbClr val="FFFFFF"/>
                </a:solidFill>
                <a:latin typeface="Calibri"/>
              </a:rPr>
              <a:t>Cosmos Gremlin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Knowledge Graph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89320" y="6126480"/>
            <a:ext cx="1783080" cy="621792"/>
          </a:xfrm>
          <a:prstGeom prst="roundRect">
            <a:avLst>
              <a:gd name="adj" fmla="val 8000"/>
            </a:avLst>
          </a:prstGeom>
          <a:solidFill>
            <a:srgbClr val="92400E"/>
          </a:solidFill>
          <a:ln w="63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ctr">
          <a:bodyPr rtlCol="0" anchor="ctr" wrap="square"/>
          <a:lstStyle/>
          <a:p>
            <a:pPr algn="ctr"/>
            <a:r>
              <a:rPr b="1" sz="850">
                <a:solidFill>
                  <a:srgbClr val="FFFFFF"/>
                </a:solidFill>
                <a:latin typeface="Calibri"/>
              </a:rPr>
              <a:t>Azure OpenAI</a:t>
            </a:r>
          </a:p>
          <a:p>
            <a:pPr algn="ctr"/>
            <a:r>
              <a:rPr b="0" sz="750">
                <a:solidFill>
                  <a:srgbClr val="C9D1D9"/>
                </a:solidFill>
                <a:latin typeface="Calibri"/>
              </a:rPr>
              <a:t>GPT-4o • embeddings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36992" y="320040"/>
            <a:ext cx="4087368" cy="3017520"/>
          </a:xfrm>
          <a:prstGeom prst="roundRect">
            <a:avLst>
              <a:gd name="adj" fmla="val 6000"/>
            </a:avLst>
          </a:prstGeom>
          <a:solidFill>
            <a:srgbClr val="0D1F38"/>
          </a:solidFill>
          <a:ln w="9525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t" marL="109728" marR="109728" marT="91440">
          <a:bodyPr rtlCol="0" anchor="ctr" wrap="square"/>
          <a:lstStyle/>
          <a:p>
            <a:pPr algn="l"/>
            <a:r>
              <a:rPr b="1" sz="1000">
                <a:solidFill>
                  <a:srgbClr val="79C0FF"/>
                </a:solidFill>
                <a:latin typeface="Calibri"/>
              </a:rPr>
              <a:t>Business Use Case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/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Legal teams manage hundreds of contracts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manually — finding obligations or risk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clauses takes hours per document.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/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Cross-contract comparison is nearly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impossible at scale, creating exposure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to missed deadlines and obligations.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/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→  Ask any legal question across your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    entire contract portfolio and get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    cited, structured answers — instantly.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36992" y="3456432"/>
            <a:ext cx="4087368" cy="3291840"/>
          </a:xfrm>
          <a:prstGeom prst="roundRect">
            <a:avLst>
              <a:gd name="adj" fmla="val 6000"/>
            </a:avLst>
          </a:prstGeom>
          <a:solidFill>
            <a:srgbClr val="0D1F1A"/>
          </a:solidFill>
          <a:ln w="9525">
            <a:solidFill>
              <a:srgbClr val="238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anchor="t" marL="109728" marR="109728" marT="91440">
          <a:bodyPr rtlCol="0" anchor="ctr" wrap="square"/>
          <a:lstStyle/>
          <a:p>
            <a:pPr algn="l"/>
            <a:r>
              <a:rPr b="1" sz="1000">
                <a:solidFill>
                  <a:srgbClr val="3FB950"/>
                </a:solidFill>
                <a:latin typeface="Calibri"/>
              </a:rPr>
              <a:t>Tech Stack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/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Frontend    React (Vite) + TypeScript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Backend     FastAPI (Python) + Uvicorn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LLM           Azure OpenAI  GPT-4o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Embeddings  text-embedding-3-large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Search        Azure AI Search (BM25+vector)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Graph DB    Cosmos DB  Gremlin API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Session DB  Cosmos DB  NoSQL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Storage      Azure Blob Storage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Doc Parse   Azure Document Intelligence</a:t>
            </a:r>
          </a:p>
          <a:p>
            <a:pPr algn="l"/>
            <a:r>
              <a:rPr b="0" sz="800">
                <a:solidFill>
                  <a:srgbClr val="C9D1D9"/>
                </a:solidFill>
                <a:latin typeface="Calibri"/>
              </a:rPr>
              <a:t>Deploy       Docker  +  Azure Container Apps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